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2D8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B2D8E"/>
                </a:solidFill>
                <a:latin typeface="Arial"/>
              </a:rPr>
              <a:t>Demo dataset: High vs Low risk students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attendance %</c:v>
                </c:pt>
              </c:strCache>
            </c:strRef>
          </c:tx>
          <c:spPr>
            <a:solidFill>
              <a:srgbClr val="5B2D8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High Risk</c:v>
                  </c:pt>
                  <c:pt idx="1">
                    <c:v>Low Risk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90.1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marks</c:v>
                </c:pt>
              </c:strCache>
            </c:strRef>
          </c:tx>
          <c:spPr>
            <a:solidFill>
              <a:srgbClr val="F5C51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High Risk</c:v>
                  </c:pt>
                  <c:pt idx="1">
                    <c:v>Low Risk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45</c:v>
                </c:pt>
                <c:pt idx="1">
                  <c:v>80.6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D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D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0"/>
            <a:ext cx="27432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das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0"/>
            <a:ext cx="1645920" cy="786384"/>
          </a:xfrm>
          <a:prstGeom prst="rect">
            <a:avLst/>
          </a:prstGeom>
        </p:spPr>
      </p:pic>
      <p:pic>
        <p:nvPicPr>
          <p:cNvPr id="5" name="Image 1" descr="ai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63040"/>
            <a:ext cx="1645920" cy="786384"/>
          </a:xfrm>
          <a:prstGeom prst="rect">
            <a:avLst/>
          </a:prstGeom>
        </p:spPr>
      </p:pic>
      <p:pic>
        <p:nvPicPr>
          <p:cNvPr id="6" name="Image 2" descr="ai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468880"/>
            <a:ext cx="1645920" cy="786384"/>
          </a:xfrm>
          <a:prstGeom prst="rect">
            <a:avLst/>
          </a:prstGeom>
        </p:spPr>
      </p:pic>
      <p:pic>
        <p:nvPicPr>
          <p:cNvPr id="7" name="Image 3" descr="stu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3474720"/>
            <a:ext cx="1645920" cy="786384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45720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1100" dirty="0"/>
          </a:p>
        </p:txBody>
      </p:sp>
      <p:sp>
        <p:nvSpPr>
          <p:cNvPr id="9" name="Shape 3"/>
          <p:cNvSpPr/>
          <p:nvPr/>
        </p:nvSpPr>
        <p:spPr>
          <a:xfrm>
            <a:off x="457200" y="1005840"/>
            <a:ext cx="73152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457200" y="118872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EduShield: A Multi-Agent Agentic AI System for Student Retention and Personalized Intervention with RAG and Human-in-the-Loop</a:t>
            </a:r>
            <a:endParaRPr lang="en-US" sz="2400" dirty="0"/>
          </a:p>
        </p:txBody>
      </p:sp>
      <p:sp>
        <p:nvSpPr>
          <p:cNvPr id="11" name="Shape 5"/>
          <p:cNvSpPr/>
          <p:nvPr/>
        </p:nvSpPr>
        <p:spPr>
          <a:xfrm>
            <a:off x="457200" y="3017520"/>
            <a:ext cx="4754880" cy="1554480"/>
          </a:xfrm>
          <a:prstGeom prst="roundRect">
            <a:avLst>
              <a:gd name="adj" fmla="val 4706"/>
            </a:avLst>
          </a:prstGeom>
          <a:solidFill>
            <a:srgbClr val="3E2062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40080" y="3108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640080" y="34290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[Member 1 – Name (Reg. No.)]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[Member 2 – Name (Reg. No.)]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[Member 3 – Name (Reg. No.)]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097280"/>
            <a:ext cx="4023360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1152144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481328"/>
            <a:ext cx="380390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identify at-risk students only after performance has already dropped.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Attendance, marks and assignment data are scattered across records.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ML gives a risk label but not the action to take.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must manually analyse many factors to choose an intervention.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guidelines and policies are not linked to each student’s case.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Need: predict risk, explain why, and recommend a policy-backed action.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840480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64608" y="1152144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Context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1481328"/>
            <a:ext cx="36210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and private schools, colleges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 and mentors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Counsellors and student support teams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advisors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Administrators tracking retention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from varied backgrounds (e.g., BPL / APL categories)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and Stakeholder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097280"/>
            <a:ext cx="2834640" cy="33375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115214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481328"/>
            <a:ext cx="261518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– primary user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Counsellor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 / Institution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Identification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1463040"/>
          <a:ext cx="50292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749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Stakeholder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Need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Spot high-risk students early; review and approve AI recommendations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Counsellor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Understand risk factors; coordinate support 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Timely support; AI counselling chatbot access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distribution and retention analytics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System: Analysis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a student’s records into a risk assessment and a policy-grounded intervention, with faculty making the final decision.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257860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160934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Student Data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1938528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Attendance, marks, assignments retrieved from MongoDB.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1554480"/>
            <a:ext cx="257860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74136" y="160934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Risk Prediction Agent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374136" y="1938528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attributes; outputs risk level, score and confidence.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80176" y="1554480"/>
            <a:ext cx="257860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89904" y="160934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RAG Retrieval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89904" y="1938528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institutional knowledge base for relevant guidance.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257860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11810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Intervention Agent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447288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priority, target problem, action steps and reasoning.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64408" y="3063240"/>
            <a:ext cx="257860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74136" y="311810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Faculty HITL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374136" y="3447288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approves, modifies or rejects the recommendation.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0176" y="3063240"/>
            <a:ext cx="257860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89904" y="311810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Re-analyze + History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089904" y="3447288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with updated data; past analyses are kept.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System: Data Sources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188720"/>
            <a:ext cx="1572768" cy="27432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124358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Records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1572768"/>
            <a:ext cx="13533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MongoDB: ID, name, attendance %, subject marks (M / S / L), average, finance category.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1188720"/>
            <a:ext cx="1572768" cy="27432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58568" y="124358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58568" y="1572768"/>
            <a:ext cx="13533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completion % (e.g., 0% for STU0001).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94760" y="1188720"/>
            <a:ext cx="1572768" cy="27432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04488" y="124358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904488" y="1572768"/>
            <a:ext cx="13533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academic_support.txt, student_support_guidelines.txt, Attendance Policy.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0680" y="1188720"/>
            <a:ext cx="1572768" cy="27432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50408" y="124358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550408" y="1572768"/>
            <a:ext cx="13533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level, risk score (0.8 = 80%), confidence (85%).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86600" y="1188720"/>
            <a:ext cx="1572768" cy="27432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96328" y="124358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History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196328" y="1572768"/>
            <a:ext cx="13533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AI analyses saved per student (History).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dataset: 7 students (STU0001 – STU0007), 2 High / 0 Medium / 5 Low risk.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Technologies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0350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Technologies / Tools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User 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dashboard (Teacher, Counsellor, Student roles); Charts for analytics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 Backend 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Node.js, Express.js, REST APIs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 Security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authentication, role-based login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 Agent 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Prediction Agent + Retention Intervention Agent (LLM reasoning)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 ML 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ML-based risk prediction (XGBoost) — confirm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 Knowledge 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over institutional text documents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 Data 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 / MongoDB Atlas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448410" cy="1005840"/>
          </a:xfrm>
          <a:prstGeom prst="roundRect">
            <a:avLst>
              <a:gd name="adj" fmla="val 5455"/>
            </a:avLst>
          </a:prstGeom>
          <a:solidFill>
            <a:srgbClr val="EDE6F7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" y="1371600"/>
            <a:ext cx="1375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Data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997050" y="137160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98218" y="1371600"/>
            <a:ext cx="144841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34794" y="1371600"/>
            <a:ext cx="1375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Prediction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46627" y="137160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7795" y="1371600"/>
            <a:ext cx="1448410" cy="1005840"/>
          </a:xfrm>
          <a:prstGeom prst="roundRect">
            <a:avLst>
              <a:gd name="adj" fmla="val 5455"/>
            </a:avLst>
          </a:prstGeom>
          <a:solidFill>
            <a:srgbClr val="EDE6F7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84371" y="1371600"/>
            <a:ext cx="1375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296205" y="137160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97373" y="1371600"/>
            <a:ext cx="144841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33949" y="1371600"/>
            <a:ext cx="1375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Intervention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945782" y="137160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46950" y="1371600"/>
            <a:ext cx="1448410" cy="1005840"/>
          </a:xfrm>
          <a:prstGeom prst="roundRect">
            <a:avLst>
              <a:gd name="adj" fmla="val 5455"/>
            </a:avLst>
          </a:prstGeom>
          <a:solidFill>
            <a:srgbClr val="EDE6F7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83526" y="1371600"/>
            <a:ext cx="1375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HITL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2697480"/>
            <a:ext cx="768096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788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Re-analyze with updated data  ⟲   |   Analysis History saved per student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200400"/>
            <a:ext cx="80467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3255264"/>
            <a:ext cx="7827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context passed between agents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3584448"/>
            <a:ext cx="7827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 → risk level, score, identified risk factors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→ guidance from academic_support.txt and student_support_guidelines.txt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 → priority, target problem, action steps, contextual reasoning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Responsibilities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024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specialised agents, a retrieval step and a human reviewer, shown as “Multi-Agent + RAG + HITL”.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39319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142646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 — Risk Prediction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1755648"/>
            <a:ext cx="3712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student attributes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risk level, score, confidence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risk factors (e.g., attendance 49%)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39319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142646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— Knowledge Retrieval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1755648"/>
            <a:ext cx="3712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institutional knowledge base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relevant policy and guideline text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Grounds the recommendation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02666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 — Retention Intervention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355848"/>
            <a:ext cx="3712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target problem and priority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recommended intervention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action steps with reasoning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73168" y="302666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— HITL Review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73168" y="3355848"/>
            <a:ext cx="3712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Pending until reviewed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Approve, Modify or Reject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keeps final decision authority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Workflow and Orchestration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188720"/>
            <a:ext cx="1249680" cy="914400"/>
          </a:xfrm>
          <a:prstGeom prst="roundRect">
            <a:avLst>
              <a:gd name="adj" fmla="val 6000"/>
            </a:avLst>
          </a:prstGeom>
          <a:solidFill>
            <a:srgbClr val="EDE6F7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9496" y="1188720"/>
            <a:ext cx="1176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opens AI Analysis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752600" y="1188720"/>
            <a:ext cx="128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80616" y="1188720"/>
            <a:ext cx="1249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17192" y="1188720"/>
            <a:ext cx="1176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data from MongoDB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130296" y="1188720"/>
            <a:ext cx="128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58312" y="1188720"/>
            <a:ext cx="1249680" cy="914400"/>
          </a:xfrm>
          <a:prstGeom prst="roundRect">
            <a:avLst>
              <a:gd name="adj" fmla="val 6000"/>
            </a:avLst>
          </a:prstGeom>
          <a:solidFill>
            <a:srgbClr val="EDE6F7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4888" y="1188720"/>
            <a:ext cx="1176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Agent evaluates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1188720"/>
            <a:ext cx="128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36008" y="1188720"/>
            <a:ext cx="1249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72584" y="1188720"/>
            <a:ext cx="1176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searches knowledge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885688" y="1188720"/>
            <a:ext cx="128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13704" y="1188720"/>
            <a:ext cx="1249680" cy="914400"/>
          </a:xfrm>
          <a:prstGeom prst="roundRect">
            <a:avLst>
              <a:gd name="adj" fmla="val 6000"/>
            </a:avLst>
          </a:prstGeom>
          <a:solidFill>
            <a:srgbClr val="EDE6F7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50280" y="1188720"/>
            <a:ext cx="1176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Agent recommends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263384" y="1188720"/>
            <a:ext cx="128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91400" y="1188720"/>
            <a:ext cx="1249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27976" y="1188720"/>
            <a:ext cx="1176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Faculty Review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2194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status shown live in the dashboard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66160" y="2560320"/>
            <a:ext cx="2011680" cy="914400"/>
          </a:xfrm>
          <a:prstGeom prst="diamond">
            <a:avLst/>
          </a:prstGeom>
          <a:solidFill>
            <a:srgbClr val="EDE6F7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66160" y="2560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decision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365760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00A63E"/>
          </a:solidFill>
          <a:ln w="12700">
            <a:solidFill>
              <a:srgbClr val="00A63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657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566160" y="365760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D18A00"/>
          </a:solidFill>
          <a:ln w="12700">
            <a:solidFill>
              <a:srgbClr val="D18A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66160" y="3657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365760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E00000"/>
          </a:solidFill>
          <a:ln w="12700">
            <a:solidFill>
              <a:srgbClr val="E000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3657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Re-analyze reruns the whole pipeline with updated student data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2606040" cy="32461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119786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Data Layer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527048"/>
            <a:ext cx="23865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stores student records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Attendance, marks, finance category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completion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analysis history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143000"/>
            <a:ext cx="2606040" cy="32461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01568" y="119786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Agent Layer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01568" y="1527048"/>
            <a:ext cx="23865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 predicts risk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retrieves institutional guidance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 builds intervention plan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shows engine: LLM reasoning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560320" cy="32461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44768" y="1197864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Human Layer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1527048"/>
            <a:ext cx="23408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reviews every recommendation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Modify / Reject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Footer: “Faculty maintains final decision authority”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JWT-secured access by role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Architecture: Tiered 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554480" cy="21945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33502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User Layer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664208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Teacher, Counsellor, Student dashboards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03120" y="1280160"/>
            <a:ext cx="1554480" cy="21945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12848" y="133502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API Layer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1664208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REST, JWT auth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49040" y="1280160"/>
            <a:ext cx="1554480" cy="21945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58768" y="133502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Agent Layer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858768" y="1664208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Prediction Agent, Intervention Agent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94960" y="1280160"/>
            <a:ext cx="1554480" cy="21945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04688" y="133502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Knowledge Layer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504688" y="1664208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over support and policy documents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40880" y="1280160"/>
            <a:ext cx="1554480" cy="21945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50608" y="133502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Data Layer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150608" y="1664208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MongoDB: students, history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gate: every AI recommendation is reviewed by faculty before action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 Implementation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2606040" cy="32461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119786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Knowledge Sources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527048"/>
            <a:ext cx="23865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academic_support.txt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student_support_guidelines.txt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Policy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Scholarship and book bank guidance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143000"/>
            <a:ext cx="2606040" cy="32461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01568" y="119786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How RAG is used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01568" y="1527048"/>
            <a:ext cx="23865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1’s risk output forms the query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guidance is retrieved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 grounds its plan in it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cites the source files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560320" cy="32461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44768" y="1197864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Retrieval Method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1527048"/>
            <a:ext cx="23408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in: keyword / embedding / vector DB]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is text-file based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extend with new policies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Implementation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pic>
        <p:nvPicPr>
          <p:cNvPr id="9" name="Image 0" descr="ai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3931920" cy="1883664"/>
          </a:xfrm>
          <a:prstGeom prst="rect">
            <a:avLst/>
          </a:prstGeom>
        </p:spPr>
      </p:pic>
      <p:pic>
        <p:nvPicPr>
          <p:cNvPr id="10" name="Image 1" descr="ai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097280"/>
            <a:ext cx="3931920" cy="188366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" y="310896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12648" y="316382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+ Risk Prediction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12648" y="3493008"/>
            <a:ext cx="3712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Five-step status tracker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STU0001: HIGH risk, 80%, confidence 85%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Factors: attendance 49%, test avg 54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709160" y="310896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18888" y="316382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+ HITL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818888" y="3493008"/>
            <a:ext cx="3712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Immediate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“Schedule urgent mentor meeting…”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action steps; Approve / Modify / Reject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Evaluation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pic>
        <p:nvPicPr>
          <p:cNvPr id="9" name="Image 0" descr="das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3931920" cy="1883664"/>
          </a:xfrm>
          <a:prstGeom prst="rect">
            <a:avLst/>
          </a:prstGeom>
        </p:spPr>
      </p:pic>
      <p:pic>
        <p:nvPicPr>
          <p:cNvPr id="10" name="Image 1" descr="stu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097280"/>
            <a:ext cx="3931920" cy="188366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" y="310896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12648" y="3163824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Prediction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12648" y="349300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students predicted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High, 0 Medium, 5 Low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00400" y="310896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310128" y="3163824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Analysis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310128" y="349300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STU0001: 3 factors found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Attendance, marks, assignments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897880" y="3108960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007608" y="316382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Scenarios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007608" y="349300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High: STU0001, STU0005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Low: STU0002–0004, 0006–0007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Success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051560"/>
          <a:ext cx="44805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120640" y="109728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6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20640" y="1143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16276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score, STU0001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03720" y="109728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6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3720" y="1143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16276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confidence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20640" y="219456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6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2064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5120640" y="27249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Attendance, STU0001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03720" y="219456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6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0372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27249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completion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120640" y="33375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accuracy / F1: [add from training results]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averages: attendance 45%, marks 45; low-risk: 90.1% and 80.6 (from the 7-student demo data).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Innovation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ML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Chatbot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EduShield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prediction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score + confidence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Contextual reasoning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knowledge (RAG)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Personalised intervention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specialised agents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Faculty approval (HITL)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Re-analysis + history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172200" y="1097280"/>
            <a:ext cx="24688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81928" y="115214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Innovation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281928" y="1481328"/>
            <a:ext cx="224942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EduShield links risk prediction, policy retrieval and intervention planning in one workflow: Prediction → Explanation → Recommendation → Human decision.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&amp; Real-World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119786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Applicability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527048"/>
            <a:ext cx="37124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identification of at-risk students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recovery programmes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Mentoring and counselling support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Scholarship and welfare referrals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analytics for administrators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3168" y="119786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73168" y="1527048"/>
            <a:ext cx="37124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classes, schools and districts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student datasets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knowledge base with new policies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more indicators (behaviour, health)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 with MongoDB Atlas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257860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124358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Retrieval upgrade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572768"/>
            <a:ext cx="2359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/ vector retrieval and larger policy corpus.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4408" y="1188720"/>
            <a:ext cx="257860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74136" y="124358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More agents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374136" y="1572768"/>
            <a:ext cx="2359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agent that triggers re-analysis automatically.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0176" y="1188720"/>
            <a:ext cx="257860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9904" y="124358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Improved evaluation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89904" y="1572768"/>
            <a:ext cx="2359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datasets, repeated experiments, faculty feedback.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257860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288950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Feedback loop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218688"/>
            <a:ext cx="2359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from Approve / Modify / Reject decisions.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64408" y="2834640"/>
            <a:ext cx="257860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74136" y="288950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Notifications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374136" y="3218688"/>
            <a:ext cx="2359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to mentors, counsellors and guardians.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80176" y="2834640"/>
            <a:ext cx="257860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89904" y="288950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Production deployment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089904" y="3218688"/>
            <a:ext cx="2359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model serving, audit logs, fine-grained access.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66928" cy="5669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828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" y="822960"/>
            <a:ext cx="100584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611880"/>
          </a:xfrm>
          <a:prstGeom prst="roundRect">
            <a:avLst>
              <a:gd name="adj" fmla="val 2025"/>
            </a:avLst>
          </a:prstGeom>
          <a:solidFill>
            <a:srgbClr val="F3F0F8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097280"/>
            <a:ext cx="7863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EduShield moves from predicting risk to recommending action, with faculty in control.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student records from MongoDB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risk level, score and confidence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factors such as attendance 49% and test average 54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institutional guidance through RAG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prioritised, step-by-step interventions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faculty in charge via Approve / Modify / Reject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re-analysis and history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access with JWT and role-based login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B2D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731520"/>
            <a:ext cx="5120640" cy="51206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011680" y="1828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EduShield – Questions &amp; Discussion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Machine Learning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2026-10-05T12:49:51Z</dcterms:created>
  <dcterms:modified xsi:type="dcterms:W3CDTF">2026-10-05T12:49:51Z</dcterms:modified>
</cp:coreProperties>
</file>